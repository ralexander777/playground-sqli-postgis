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embeddedFontLst>
    <p:embeddedFont>
      <p:font typeface="Inter" panose="020B0604020202020204" charset="0"/>
      <p:regular r:id="rId10"/>
      <p:bold r:id="rId11"/>
      <p:italic r:id="rId12"/>
      <p:boldItalic r:id="rId13"/>
    </p:embeddedFont>
    <p:embeddedFont>
      <p:font typeface="Plus Jakarta Sans" panose="020B0604020202020204" charset="0"/>
      <p:regular r:id="rId14"/>
      <p:bold r:id="rId15"/>
      <p:italic r:id="rId16"/>
      <p:boldItalic r:id="rId17"/>
    </p:embeddedFont>
    <p:embeddedFont>
      <p:font typeface="Space Grotesk" panose="020B060402020202020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58DE24-4240-4B2D-92AC-85EDF0DE8E8E}">
  <a:tblStyle styleId="{E358DE24-4240-4B2D-92AC-85EDF0DE8E8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ad4d5312_1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g3fbad4d531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bad4d5312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g3fbad4d5312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bad4d5312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fbad4d5312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bad4d5312_1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g3fbad4d5312_1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bad4d5312_1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fbad4d5312_1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RAlexander777/Playground-SQLi-PostGIS.gi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838200" y="1524047"/>
            <a:ext cx="9901200" cy="188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Evaluation of Spatial SQL Injection Vulnerabilities in PostGIS-Based Cadastral Information Systems</a:t>
            </a:r>
            <a:endParaRPr sz="1700"/>
          </a:p>
        </p:txBody>
      </p:sp>
      <p:sp>
        <p:nvSpPr>
          <p:cNvPr id="85" name="Google Shape;85;p13"/>
          <p:cNvSpPr txBox="1"/>
          <p:nvPr/>
        </p:nvSpPr>
        <p:spPr>
          <a:xfrm>
            <a:off x="838200" y="3615527"/>
            <a:ext cx="79059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 Assessment, Testing, and Mitigation</a:t>
            </a:r>
            <a:endParaRPr sz="1600"/>
          </a:p>
        </p:txBody>
      </p:sp>
      <p:sp>
        <p:nvSpPr>
          <p:cNvPr id="86" name="Google Shape;86;p13"/>
          <p:cNvSpPr txBox="1"/>
          <p:nvPr/>
        </p:nvSpPr>
        <p:spPr>
          <a:xfrm>
            <a:off x="9084275" y="6452175"/>
            <a:ext cx="28569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Rodrigo Alexander Becerra Lucano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INTRODUCTION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685800" y="1417700"/>
            <a:ext cx="9170400" cy="4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Modern cadastral information systems expose web services over client-server architectures; however, this exposes them to SQLi attack vectors.</a:t>
            </a:r>
            <a:endParaRPr sz="1600"/>
          </a:p>
        </p:txBody>
      </p:sp>
      <p:sp>
        <p:nvSpPr>
          <p:cNvPr id="93" name="Google Shape;93;p14"/>
          <p:cNvSpPr txBox="1"/>
          <p:nvPr/>
        </p:nvSpPr>
        <p:spPr>
          <a:xfrm>
            <a:off x="685800" y="2178863"/>
            <a:ext cx="91704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PostGIS features geometric operators (ST_DWithin, ST_Intersects, ST_Buffer) whose improper handling can allow threats, data leakage, and trigger DoS attacks.</a:t>
            </a:r>
            <a:endParaRPr sz="1600"/>
          </a:p>
        </p:txBody>
      </p:sp>
      <p:sp>
        <p:nvSpPr>
          <p:cNvPr id="94" name="Google Shape;94;p14"/>
          <p:cNvSpPr txBox="1"/>
          <p:nvPr/>
        </p:nvSpPr>
        <p:spPr>
          <a:xfrm>
            <a:off x="685800" y="3178538"/>
            <a:ext cx="9170400" cy="7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This paper presents the evaluation of 6 attack vectors targeting the CIA triad (Confidentiality, Integrity, and Availability), alongside mitigation barriers for these attacks.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TEST DATASET AND EVALUATION ENVIRONMENT</a:t>
            </a:r>
            <a:endParaRPr/>
          </a:p>
        </p:txBody>
      </p:sp>
      <p:sp>
        <p:nvSpPr>
          <p:cNvPr id="100" name="Google Shape;100;p15"/>
          <p:cNvSpPr/>
          <p:nvPr/>
        </p:nvSpPr>
        <p:spPr>
          <a:xfrm>
            <a:off x="685800" y="1608442"/>
            <a:ext cx="5248200" cy="1605600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5"/>
          <p:cNvSpPr/>
          <p:nvPr/>
        </p:nvSpPr>
        <p:spPr>
          <a:xfrm>
            <a:off x="6105525" y="1608442"/>
            <a:ext cx="5248200" cy="1605600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5"/>
          <p:cNvSpPr/>
          <p:nvPr/>
        </p:nvSpPr>
        <p:spPr>
          <a:xfrm>
            <a:off x="685800" y="3385450"/>
            <a:ext cx="5248200" cy="1605600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/>
          <p:nvPr/>
        </p:nvSpPr>
        <p:spPr>
          <a:xfrm>
            <a:off x="6105525" y="3385450"/>
            <a:ext cx="5248200" cy="1605600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923925" y="1808467"/>
            <a:ext cx="59649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INTERNATIONAL STANDARD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923925" y="2037067"/>
            <a:ext cx="62634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487 Urban Parcels (ISO 19152 / LADM)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923925" y="2351392"/>
            <a:ext cx="48672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Cartography structured under the LA_SpatialUnit class and georeferenced in the official coordinate reference system EPSG:32719.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6343650" y="1808467"/>
            <a:ext cx="57723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VECTOR COMPLEXITY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6343650" y="2037067"/>
            <a:ext cx="57723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Geometries from 4 to 222 Vertices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6343650" y="2351392"/>
            <a:ext cx="48672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Average of 9.0 vertices per polygon, enabling assessment of algorithmic overhead and topological dispersion on real-world parcels.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23925" y="3585475"/>
            <a:ext cx="59649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RELATIONAL SCHEMA AND ETHICS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923925" y="3814075"/>
            <a:ext cx="62634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3 Entities with No PII Data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923925" y="4128400"/>
            <a:ext cx="4867200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Tables tg_lote, catastro_titulares (LA_Party/tax assessment), and catastro_usuarios; reproducible synthetic fiscal attributes.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6343650" y="3585475"/>
            <a:ext cx="57723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TESTING ARCHITECTURE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343650" y="3814075"/>
            <a:ext cx="57723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Isolated Docker Microservices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6343650" y="4128400"/>
            <a:ext cx="48672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PostgreSQL 15 with PostGIS 3.3 and Python 3.11 API (FastAPI/Uvicorn) executed on an Intel Core Ultra 5 processor with 32 GB DDR5 RAM.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2036250" y="5362475"/>
            <a:ext cx="8119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Playground: </a:t>
            </a:r>
            <a:r>
              <a:rPr lang="en-US" sz="1650" b="1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  <a:hlinkClick r:id="rId3"/>
              </a:rPr>
              <a:t>https://github.com/RAlexander777/Playground-SQLi-PostGIS.git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EVALUATION OF THE 6 ATTACK VECTORS</a:t>
            </a:r>
            <a:endParaRPr/>
          </a:p>
        </p:txBody>
      </p:sp>
      <p:sp>
        <p:nvSpPr>
          <p:cNvPr id="122" name="Google Shape;122;p16"/>
          <p:cNvSpPr/>
          <p:nvPr/>
        </p:nvSpPr>
        <p:spPr>
          <a:xfrm>
            <a:off x="4394150" y="1600200"/>
            <a:ext cx="3403500" cy="3749039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8026300" y="1600200"/>
            <a:ext cx="3403500" cy="34788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4632275" y="1876425"/>
            <a:ext cx="2927400" cy="5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264425" y="1876425"/>
            <a:ext cx="2927400" cy="5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4632275" y="2447925"/>
            <a:ext cx="2927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8264425" y="2447925"/>
            <a:ext cx="2927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8264425" y="3379291"/>
            <a:ext cx="2927400" cy="7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8264425" y="4234457"/>
            <a:ext cx="2927400" cy="7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8264425" y="3379291"/>
            <a:ext cx="2927400" cy="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8264425" y="4234457"/>
            <a:ext cx="2927400" cy="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 txBox="1"/>
          <p:nvPr/>
        </p:nvSpPr>
        <p:spPr>
          <a:xfrm>
            <a:off x="4632275" y="187642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DIMENSION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4632275" y="2085975"/>
            <a:ext cx="38421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Availability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264425" y="187642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DIMENSION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8264425" y="2085975"/>
            <a:ext cx="38421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Integrity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4632275" y="2609850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V3. Denial of Service (DoS)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4632275" y="2788920"/>
            <a:ext cx="30225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Spatial Cartesian product injection via ST_Buffer and high vertex density.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264425" y="2609850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V4. Cadastral Record Tampering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264425" y="2838450"/>
            <a:ext cx="3022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Unauthorized data modification.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8264425" y="3465016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V5. Cartographic Deletion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264425" y="3693616"/>
            <a:ext cx="3022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Deletion of sector geometries.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8264425" y="4320182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V6. Authentication Bypass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264425" y="4548782"/>
            <a:ext cx="3022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Unauthorized system access with administrative role.</a:t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762000" y="1600200"/>
            <a:ext cx="3403500" cy="34788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846525" y="1920925"/>
            <a:ext cx="2927400" cy="5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846525" y="2492425"/>
            <a:ext cx="2927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1000125" y="192092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DIMENSION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1000125" y="2138225"/>
            <a:ext cx="38421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Confidentiality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1000125" y="2653650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V1. Spatial Logic Bypass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1000125" y="2891300"/>
            <a:ext cx="30225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Tautology in ST_DWithin, geographic boundary bypass.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1000125" y="3583950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V2. Error-Based Side Channel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1000125" y="3821600"/>
            <a:ext cx="30225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Conditional geometric exceptions in ST_Intersects.</a:t>
            </a:r>
            <a:endParaRPr/>
          </a:p>
        </p:txBody>
      </p:sp>
      <p:pic>
        <p:nvPicPr>
          <p:cNvPr id="153" name="Picture 152" descr="fig3_spatial_dos_complex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291840"/>
            <a:ext cx="3154680" cy="18227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ATTACK MITIGATION BARRIERS</a:t>
            </a:r>
            <a:endParaRPr/>
          </a:p>
        </p:txBody>
      </p:sp>
      <p:sp>
        <p:nvSpPr>
          <p:cNvPr id="158" name="Google Shape;158;p17"/>
          <p:cNvSpPr/>
          <p:nvPr/>
        </p:nvSpPr>
        <p:spPr>
          <a:xfrm>
            <a:off x="685800" y="1280160"/>
            <a:ext cx="10668000" cy="685800"/>
          </a:xfrm>
          <a:prstGeom prst="roundRect">
            <a:avLst>
              <a:gd name="adj" fmla="val 12024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685800" y="2057400"/>
            <a:ext cx="10668000" cy="685800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685800" y="2834640"/>
            <a:ext cx="10668000" cy="685800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962100" y="1371600"/>
            <a:ext cx="329184" cy="329184"/>
          </a:xfrm>
          <a:prstGeom prst="roundRect">
            <a:avLst>
              <a:gd name="adj" fmla="val 18181"/>
            </a:avLst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962025" y="2148840"/>
            <a:ext cx="329184" cy="329184"/>
          </a:xfrm>
          <a:prstGeom prst="roundRect">
            <a:avLst>
              <a:gd name="adj" fmla="val 18181"/>
            </a:avLst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962100" y="2926080"/>
            <a:ext cx="329184" cy="329184"/>
          </a:xfrm>
          <a:prstGeom prst="roundRect">
            <a:avLst>
              <a:gd name="adj" fmla="val 18181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819150" y="1399032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1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819150" y="2176272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2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819150" y="2953512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3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1647825" y="1325880"/>
            <a:ext cx="104679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Barrier 1: Strict Validation with Pydantic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1647825" y="1572768"/>
            <a:ext cx="104679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pPr>
            <a:r>
              <a:rPr lang="en-US" sz="127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Strict numeric typing, physical coordinate bounding, and regular expression guards on alphanumeric parameters.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1647825" y="2103120"/>
            <a:ext cx="104679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Barrier 2: In-Memory Topological Filtering with Shapely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1647825" y="2350008"/>
            <a:ext cx="9525000" cy="4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pPr>
            <a:r>
              <a:rPr lang="en-US" sz="127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Geometric inspection of WKT/GeoJSON payloads before querying the DB; rejection of self-intersections or corrupted geometries via HTTP 422.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1647825" y="2880360"/>
            <a:ext cx="104679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Barrier 3: ORM Parameterization with GeoAlchemy2 and SQLAlchemy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1647825" y="3127248"/>
            <a:ext cx="9525000" cy="4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pPr>
            <a:r>
              <a:rPr lang="en-US" sz="127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Typed AST compilation with EWKB binary bind variables and prepared statements; completely eliminates textual concatenation.</a:t>
            </a:r>
            <a:endParaRPr/>
          </a:p>
        </p:txBody>
      </p:sp>
      <p:pic>
        <p:nvPicPr>
          <p:cNvPr id="173" name="Picture 172" descr="fig1_defense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304" y="3657600"/>
            <a:ext cx="731520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8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RESULTS AND PERFORMANCE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762000" y="2331720"/>
            <a:ext cx="10668000" cy="1234440"/>
          </a:xfrm>
          <a:prstGeom prst="roundRect">
            <a:avLst>
              <a:gd name="adj" fmla="val 4716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762000" y="1234440"/>
            <a:ext cx="3403500" cy="100584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4394150" y="1234440"/>
            <a:ext cx="3403500" cy="100584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8026300" y="1234440"/>
            <a:ext cx="3403500" cy="100584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2" name="Google Shape;182;p18"/>
          <p:cNvGraphicFramePr/>
          <p:nvPr/>
        </p:nvGraphicFramePr>
        <p:xfrm>
          <a:off x="962025" y="2423160"/>
          <a:ext cx="10267950" cy="1243000"/>
        </p:xfrm>
        <a:graphic>
          <a:graphicData uri="http://schemas.openxmlformats.org/drawingml/2006/table">
            <a:tbl>
              <a:tblPr>
                <a:noFill/>
                <a:tableStyleId>{E358DE24-4240-4B2D-92AC-85EDF0DE8E8E}</a:tableStyleId>
              </a:tblPr>
              <a:tblGrid>
                <a:gridCol w="3366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050" b="1" i="0" u="none" strike="noStrike" cap="none">
                          <a:solidFill>
                            <a:srgbClr val="64748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Enfoque Evaluado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050" b="1" i="0" u="none" strike="noStrike" cap="none">
                          <a:solidFill>
                            <a:srgbClr val="64748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Bloqueo Espacial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050" b="1" i="0" u="none" strike="noStrike" cap="none">
                          <a:solidFill>
                            <a:srgbClr val="64748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Throughput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050" b="1" i="0" u="none" strike="noStrike" cap="none">
                          <a:solidFill>
                            <a:srgbClr val="64748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Latencia Media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2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API Vulnerable (SQL Dinámico)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200" b="1" i="0" u="none" strike="noStrike" cap="none">
                          <a:solidFill>
                            <a:srgbClr val="EF444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0% (Exposición total)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556.21 req/s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2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17.26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200" b="1" i="0" u="none" strike="noStrike" cap="none">
                          <a:solidFill>
                            <a:srgbClr val="065F4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Pipeline Propuesto (GeoAlchemy2)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200" b="1" i="0" u="none" strike="noStrike" cap="none">
                          <a:solidFill>
                            <a:srgbClr val="0596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100% Mitigación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200" b="1" i="0" u="none" strike="noStrike" cap="none">
                          <a:solidFill>
                            <a:srgbClr val="065F4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484.36 req/s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100"/>
                      </a:pPr>
                      <a:r>
                        <a:rPr lang="en-US" sz="1200" b="1" i="0" u="none" strike="noStrike" cap="none">
                          <a:solidFill>
                            <a:srgbClr val="065F4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19.89 ms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3" name="Google Shape;183;p18"/>
          <p:cNvSpPr txBox="1"/>
          <p:nvPr/>
        </p:nvSpPr>
        <p:spPr>
          <a:xfrm>
            <a:off x="1000125" y="1325880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SECURITY EFFECTIVENESS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000125" y="1536192"/>
            <a:ext cx="36591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59669"/>
                </a:solidFill>
                <a:latin typeface="Space Grotesk"/>
                <a:ea typeface="Space Grotesk"/>
                <a:cs typeface="Space Grotesk"/>
                <a:sym typeface="Space Grotesk"/>
              </a:rPr>
              <a:t>100%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1000125" y="1965960"/>
            <a:ext cx="36591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/>
            </a:pPr>
            <a:r>
              <a:rPr lang="en-US" sz="112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Block rate across all 6 evaluated vectors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4632275" y="1325880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OPERATIONAL OVERHEAD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4632275" y="1536192"/>
            <a:ext cx="36591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+2.63 ms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4632275" y="1965960"/>
            <a:ext cx="36591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/>
            </a:pPr>
            <a:r>
              <a:rPr lang="en-US" sz="112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19.89 ms mitigated vs. 17.26 ms vulnerable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8264425" y="1325880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TAIL STABILITY (P99)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8264425" y="1536192"/>
            <a:ext cx="36591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-12.59%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8264425" y="1965960"/>
            <a:ext cx="36591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00"/>
            </a:pPr>
            <a:r>
              <a:rPr lang="en-US" sz="112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Tail latency reduction via prepared execution plans</a:t>
            </a:r>
            <a:endParaRPr/>
          </a:p>
        </p:txBody>
      </p:sp>
      <p:pic>
        <p:nvPicPr>
          <p:cNvPr id="192" name="Picture 191" descr="fig2_concurrency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304" y="3703320"/>
            <a:ext cx="7315200" cy="28135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9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STUDY CONCLUSIONS</a:t>
            </a:r>
            <a:endParaRPr/>
          </a:p>
        </p:txBody>
      </p:sp>
      <p:sp>
        <p:nvSpPr>
          <p:cNvPr id="197" name="Google Shape;197;p19"/>
          <p:cNvSpPr/>
          <p:nvPr/>
        </p:nvSpPr>
        <p:spPr>
          <a:xfrm>
            <a:off x="685800" y="1461112"/>
            <a:ext cx="10668000" cy="950700"/>
          </a:xfrm>
          <a:prstGeom prst="roundRect">
            <a:avLst>
              <a:gd name="adj" fmla="val 12024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685800" y="2583125"/>
            <a:ext cx="10668000" cy="950700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685800" y="3784077"/>
            <a:ext cx="10668000" cy="950700"/>
          </a:xfrm>
          <a:prstGeom prst="roundRect">
            <a:avLst>
              <a:gd name="adj" fmla="val 9709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962100" y="1638133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0284C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962025" y="2856592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962100" y="4059723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 txBox="1"/>
          <p:nvPr/>
        </p:nvSpPr>
        <p:spPr>
          <a:xfrm>
            <a:off x="819150" y="1726770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1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819150" y="2962192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2</a:t>
            </a:r>
            <a:endParaRPr/>
          </a:p>
        </p:txBody>
      </p:sp>
      <p:sp>
        <p:nvSpPr>
          <p:cNvPr id="205" name="Google Shape;205;p19"/>
          <p:cNvSpPr txBox="1"/>
          <p:nvPr/>
        </p:nvSpPr>
        <p:spPr>
          <a:xfrm>
            <a:off x="819150" y="4172973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3</a:t>
            </a:r>
            <a:endParaRPr/>
          </a:p>
        </p:txBody>
      </p:sp>
      <p:sp>
        <p:nvSpPr>
          <p:cNvPr id="206" name="Google Shape;206;p19"/>
          <p:cNvSpPr txBox="1"/>
          <p:nvPr/>
        </p:nvSpPr>
        <p:spPr>
          <a:xfrm>
            <a:off x="1524150" y="1664337"/>
            <a:ext cx="10467900" cy="74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PostGIS geometric operators require the same parameterization rigor as traditional relational queries; textual concatenation directly jeopardizes cadastral public trust and tax assessment calculations.</a:t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7" name="Google Shape;207;p19"/>
          <p:cNvSpPr txBox="1"/>
          <p:nvPr/>
        </p:nvSpPr>
        <p:spPr>
          <a:xfrm>
            <a:off x="1524150" y="2798902"/>
            <a:ext cx="9525000" cy="74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Traditional scalar syntactic validation is insufficient for topological predicates; in-memory inspection with Shapely and Pydantic prevents O(N²) algorithmic overload before reaching the database.</a:t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8" name="Google Shape;208;p19"/>
          <p:cNvSpPr txBox="1"/>
          <p:nvPr/>
        </p:nvSpPr>
        <p:spPr>
          <a:xfrm>
            <a:off x="1524150" y="3999783"/>
            <a:ext cx="9525000" cy="74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Typed ORM compilation (GeoAlchemy2/SQLAlchemy) neutralizes 100% of attack vectors with a marginal average overhead of merely 2.63 ms, improving p99 tail latency by 12.59% via prepared execution plans.</a:t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599</Words>
  <Application>Microsoft Office PowerPoint</Application>
  <PresentationFormat>Panorámica</PresentationFormat>
  <Paragraphs>79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Space Grotesk</vt:lpstr>
      <vt:lpstr>Arial</vt:lpstr>
      <vt:lpstr>Inter</vt:lpstr>
      <vt:lpstr>Plus Jakarta Sans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Rod183@hotmail.com</cp:lastModifiedBy>
  <cp:revision>1</cp:revision>
  <dcterms:modified xsi:type="dcterms:W3CDTF">2026-09-19T15:54:59Z</dcterms:modified>
</cp:coreProperties>
</file>