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58DE24-4240-4B2D-92AC-85EDF0DE8E8E}">
  <a:tblStyle styleId="{E358DE24-4240-4B2D-92AC-85EDF0DE8E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font" Target="fonts/PlusJakartaSans-regular.fntdata"/><Relationship Id="rId15" Type="http://schemas.openxmlformats.org/officeDocument/2006/relationships/font" Target="fonts/PlusJakartaSans-bold.fntdata"/><Relationship Id="rId16" Type="http://schemas.openxmlformats.org/officeDocument/2006/relationships/font" Target="fonts/PlusJakartaSans-italic.fntdata"/><Relationship Id="rId17" Type="http://schemas.openxmlformats.org/officeDocument/2006/relationships/font" Target="fonts/PlusJakartaSans-boldItalic.fntdata"/><Relationship Id="rId18" Type="http://schemas.openxmlformats.org/officeDocument/2006/relationships/font" Target="fonts/Inter-regular.fntdata"/><Relationship Id="rId19" Type="http://schemas.openxmlformats.org/officeDocument/2006/relationships/font" Target="fonts/Inter-bold.fntdata"/><Relationship Id="rId20" Type="http://schemas.openxmlformats.org/officeDocument/2006/relationships/font" Target="fonts/Inter-italic.fntdata"/><Relationship Id="rId21" Type="http://schemas.openxmlformats.org/officeDocument/2006/relationships/font" Target="fonts/Inter-boldItalic.fntdata"/><Relationship Id="rId22" Type="http://schemas.openxmlformats.org/officeDocument/2006/relationships/font" Target="fonts/SpaceGrotesk-regular.fntdata"/><Relationship Id="rId23" Type="http://schemas.openxmlformats.org/officeDocument/2006/relationships/font" Target="fonts/SpaceGrotes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ad4d5312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bad4d5312_1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bad4d531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bad4d531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bad4d5312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bad4d5312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bad4d5312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bad4d5312_1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bad4d5312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bad4d5312_1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RAlexander777/Playground-SQLi-PostGIS.g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38200" y="1524047"/>
            <a:ext cx="9901200" cy="1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Evaluation of Spatial SQL Injection Vulnerabilities in PostGIS-Based Cadastral Information Systems</a:t>
            </a:r>
            <a:endParaRPr sz="1700"/>
          </a:p>
        </p:txBody>
      </p:sp>
      <p:sp>
        <p:nvSpPr>
          <p:cNvPr id="85" name="Google Shape;85;p13"/>
          <p:cNvSpPr txBox="1"/>
          <p:nvPr/>
        </p:nvSpPr>
        <p:spPr>
          <a:xfrm>
            <a:off x="838200" y="3615527"/>
            <a:ext cx="79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Assessment, Testing, and Mitigation</a:t>
            </a:r>
            <a:endParaRPr sz="1600"/>
          </a:p>
        </p:txBody>
      </p:sp>
      <p:sp>
        <p:nvSpPr>
          <p:cNvPr id="86" name="Google Shape;86;p13"/>
          <p:cNvSpPr txBox="1"/>
          <p:nvPr/>
        </p:nvSpPr>
        <p:spPr>
          <a:xfrm>
            <a:off x="9084275" y="6452175"/>
            <a:ext cx="285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Rodrigo Alexander Becerra Lucano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85800" y="1417700"/>
            <a:ext cx="9170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 cadastral information systems expose web services over client-server architectures; however, this exposes them to SQLi attack vectors.</a:t>
            </a:r>
            <a:endParaRPr sz="1600"/>
          </a:p>
        </p:txBody>
      </p:sp>
      <p:sp>
        <p:nvSpPr>
          <p:cNvPr id="93" name="Google Shape;93;p14"/>
          <p:cNvSpPr txBox="1"/>
          <p:nvPr/>
        </p:nvSpPr>
        <p:spPr>
          <a:xfrm>
            <a:off x="685800" y="2178863"/>
            <a:ext cx="9170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PostGIS features geometric operators (ST_DWithin, ST_Intersects, ST_Buffer) whose improper handling can allow threats, data leakage, and trigger DoS attacks.</a:t>
            </a:r>
            <a:endParaRPr sz="1600"/>
          </a:p>
        </p:txBody>
      </p:sp>
      <p:sp>
        <p:nvSpPr>
          <p:cNvPr id="94" name="Google Shape;94;p14"/>
          <p:cNvSpPr txBox="1"/>
          <p:nvPr/>
        </p:nvSpPr>
        <p:spPr>
          <a:xfrm>
            <a:off x="685800" y="3178538"/>
            <a:ext cx="9170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paper presents the evaluation of 6 attack vectors targeting the CIA triad (Confidentiality, Integrity, and Availability), alongside mitigation barriers for these attacks.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DATASET AND EVALUATION ENVIRONMENT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685800" y="1608442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105525" y="1608442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85800" y="3385450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105525" y="3385450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23925" y="1808467"/>
            <a:ext cx="596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INTERNATIONAL STANDARD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23925" y="2037067"/>
            <a:ext cx="6263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487 Urban Parcels (ISO 19152 / LADM)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23925" y="2351392"/>
            <a:ext cx="4867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Cartography structured under the LA_SpatialUnit class and georeferenced in the official coordinate reference system EPSG:32719.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43650" y="1808467"/>
            <a:ext cx="577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VECTOR COMPLEXITY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43650" y="2037067"/>
            <a:ext cx="5772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Geometries from 4 to 222 Vertices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43650" y="2351392"/>
            <a:ext cx="4867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Average of 9.0 vertices per polygon, enabling assessment of algorithmic overhead and topological dispersion on real-world parcels.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23925" y="3585475"/>
            <a:ext cx="596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RELATIONAL SCHEMA AND ETHICS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3925" y="3814075"/>
            <a:ext cx="6263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 Entities with No PII Data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23925" y="4128400"/>
            <a:ext cx="4867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Tables tg_lote, catastro_titulares (LA_Party/tax assessment), and catastro_usuarios; reproducible synthetic fiscal attributes.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343650" y="3585475"/>
            <a:ext cx="577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 ARCHITECTURE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43650" y="3814075"/>
            <a:ext cx="5772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Isolated Docker Microservices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43650" y="4128400"/>
            <a:ext cx="4867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PostgreSQL 15 with PostGIS 3.3 and Python 3.11 API (FastAPI/Uvicorn) executed on an Intel Core Ultra 5 processor with 32 GB DDR5 RAM.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2036250" y="5362475"/>
            <a:ext cx="81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Playground: https://github.com/RAlexander777/Playground-SQLi-PostGIS.git</a:t>
            </a:r>
            <a:r>
              <a:rPr b="1" lang="en-US" sz="16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EVALUATION OF THE 6 ATTACK VECTORS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394150" y="1600200"/>
            <a:ext cx="3403500" cy="347880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026300" y="1600200"/>
            <a:ext cx="3403500" cy="347880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632275" y="1876425"/>
            <a:ext cx="2927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264425" y="1876425"/>
            <a:ext cx="2927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632275" y="2447925"/>
            <a:ext cx="2927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264425" y="2447925"/>
            <a:ext cx="2927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8264425" y="3379291"/>
            <a:ext cx="29274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8264425" y="4234457"/>
            <a:ext cx="29274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264425" y="3379291"/>
            <a:ext cx="2927400" cy="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264425" y="4234457"/>
            <a:ext cx="2927400" cy="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632275" y="187642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DIMENSION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32275" y="2085975"/>
            <a:ext cx="38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Availability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264425" y="187642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DIMENSION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8264425" y="2085975"/>
            <a:ext cx="38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Integrity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32275" y="26098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V3. Denial of Service (DoS)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32275" y="2838450"/>
            <a:ext cx="30225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Spatial Cartesian product injection via ST_Buffer and high vertex density.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264425" y="26098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V4. Cadastral Record Tampering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264425" y="2838450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Unauthorized data modification.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264425" y="3465016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V5. Cartographic Deletion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264425" y="3693616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Deletion of sector geometries.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264425" y="4320182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V6. Authentication Bypass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264425" y="4548782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Unauthorized system access with administrative role.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62000" y="1600200"/>
            <a:ext cx="3403500" cy="347880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846525" y="1920925"/>
            <a:ext cx="2927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46525" y="2492425"/>
            <a:ext cx="2927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1000125" y="192092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DIMENSION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00125" y="2138225"/>
            <a:ext cx="38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Confidentiality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00125" y="26536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V1. Spatial Logic Bypass</a:t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00125" y="2891300"/>
            <a:ext cx="30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Tautology in ST_DWithin, geographic boundary bypass.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00125" y="35839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V2. Error-Based Side Channel</a:t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00125" y="3821600"/>
            <a:ext cx="30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Conditional geometric exceptions in ST_Intersects.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ATTACK MITIGATION BARRIERS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85800" y="1461112"/>
            <a:ext cx="10668000" cy="950700"/>
          </a:xfrm>
          <a:prstGeom prst="roundRect">
            <a:avLst>
              <a:gd fmla="val 120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85800" y="2583127"/>
            <a:ext cx="10668000" cy="11772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85800" y="3931808"/>
            <a:ext cx="10668000" cy="11772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962100" y="1638133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962025" y="285659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962100" y="4197623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819150" y="1726770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19150" y="296219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19150" y="4310873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647825" y="1680187"/>
            <a:ext cx="1046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Barrier 1: Strict Validation with Pydantic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647825" y="1965937"/>
            <a:ext cx="10467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Strict numeric typing, physical coordinate bounding, and regular expression guards on alphanumeric parameters.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647825" y="2802202"/>
            <a:ext cx="1046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Barrier 2: In-Memory Topological Filtering with Shapely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647825" y="3087952"/>
            <a:ext cx="9525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Geometric inspection of WKT/GeoJSON payloads before querying the DB; rejection of self-intersections or corrupted geometries via HTTP 422.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647825" y="4150883"/>
            <a:ext cx="1046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Barrier 3: ORM Parameterization with GeoAlchemy2 and SQLAlchemy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647825" y="4436633"/>
            <a:ext cx="9525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Typed AST compilation with EWKB binary bind variables and prepared statements; completely eliminates textual concatenation.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RESULTS AND PERFORMANCE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62000" y="3009900"/>
            <a:ext cx="10668000" cy="1696500"/>
          </a:xfrm>
          <a:prstGeom prst="roundRect">
            <a:avLst>
              <a:gd fmla="val 47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62000" y="1504950"/>
            <a:ext cx="3403500" cy="12573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4394150" y="1504950"/>
            <a:ext cx="3403500" cy="12573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026300" y="1504950"/>
            <a:ext cx="3403500" cy="12573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8"/>
          <p:cNvGraphicFramePr/>
          <p:nvPr/>
        </p:nvGraphicFramePr>
        <p:xfrm>
          <a:off x="962025" y="319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{E358DE24-4240-4B2D-92AC-85EDF0DE8E8E}</a:tableStyleId>
              </a:tblPr>
              <a:tblGrid>
                <a:gridCol w="3366350"/>
                <a:gridCol w="2375450"/>
                <a:gridCol w="3028500"/>
                <a:gridCol w="1497650"/>
              </a:tblGrid>
              <a:tr h="4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Enfoque Evaluado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Bloqueo Espacial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Throughput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Latencia 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 Vulnerable (SQL Dinámico)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 (Exposición total)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556.21 req/s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17.26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Pipeline Propuesto (GeoAlchemy2)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Mitigación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484.36 req/s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19.89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8"/>
          <p:cNvSpPr txBox="1"/>
          <p:nvPr/>
        </p:nvSpPr>
        <p:spPr>
          <a:xfrm>
            <a:off x="1000125" y="170497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SECURITY EFFECTIVENESS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00125" y="1924050"/>
            <a:ext cx="3659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9669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100%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00125" y="2381250"/>
            <a:ext cx="3659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Block rate across all 6 evaluated vectors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632275" y="170497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OPERATIONAL OVERHEAD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632275" y="1924050"/>
            <a:ext cx="3659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+2.63 ms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632275" y="2381250"/>
            <a:ext cx="3659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19.89 ms mitigated vs. 17.26 ms vulnerable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264425" y="170497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TAIL STABILITY (P99)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264425" y="1924050"/>
            <a:ext cx="3659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-12.59%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264425" y="2381250"/>
            <a:ext cx="3659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Tail latency reduction via prepared execution plans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STUDY CONCLUSIONS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85800" y="1461112"/>
            <a:ext cx="10668000" cy="950700"/>
          </a:xfrm>
          <a:prstGeom prst="roundRect">
            <a:avLst>
              <a:gd fmla="val 120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85800" y="2583125"/>
            <a:ext cx="10668000" cy="9507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85800" y="3784077"/>
            <a:ext cx="10668000" cy="9507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962100" y="1638133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962025" y="285659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962100" y="4059723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819150" y="1726770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19150" y="296219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19150" y="4172973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524150" y="1664337"/>
            <a:ext cx="104679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PostGIS geometric operators require the same parameterization rigor as traditional relational queries; textual concatenation directly jeopardizes cadastral public trust and tax assessment calculations.</a:t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1524150" y="2798902"/>
            <a:ext cx="9525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scalar syntactic validation is insufficient for topological predicates; in-memory inspection with Shapely and Pydantic prevents O(N²) algorithmic overload before reaching the database.</a:t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1524150" y="3999783"/>
            <a:ext cx="9525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Typed ORM compilation (GeoAlchemy2/SQLAlchemy) neutralizes 100% of attack vectors with a marginal average overhead of merely 2.63 ms, improving p99 tail latency by 12.59% via prepared execution plans.</a:t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