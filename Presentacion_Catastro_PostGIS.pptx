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E7490"/>
                </a:solidFill>
                <a:latin typeface="Segoe UI"/>
              </a:defRPr>
            </a:pPr>
            <a:r>
              <a:t>INVESTIGACIÓN EXPERIMENTAL DE CIBERSEGURIDAD GEOESPACIAL</a:t>
            </a:r>
          </a:p>
          <a:p>
            <a:pPr>
              <a:spcAft>
                <a:spcPts val="1400"/>
              </a:spcAft>
              <a:defRPr sz="2800" b="1">
                <a:solidFill>
                  <a:srgbClr val="0F172A"/>
                </a:solidFill>
                <a:latin typeface="Segoe UI"/>
              </a:defRPr>
            </a:pPr>
            <a:r>
              <a:t>Evaluación de Vulnerabilidades de Inyección SQL Espacial en Sistemas de Información Catastral basados en PostGIS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Riesgos en Operadores Topológicos · Mitigación en Capa de Aplicación · ISO 19152 LADM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3154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Contexto Crítico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Geoportales municipales y visores catastrales exponen APIs REST sobre PostgreSQL/PostGIS para recaudación e interoperabilidad.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4297680"/>
            <a:ext cx="3154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Falsa Sensación de Seguridad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Existe la presunción de que operadores topológicos (ST_DWithin, ST_Intersects) son inmunes por su naturaleza geométrica.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4297680"/>
            <a:ext cx="31546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Brecha Técnica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La interpolación de texto en funciones espaciales permite romper filtros de sector, exfiltrar registros e inducir denegación de servicio.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7490"/>
                </a:solidFill>
                <a:latin typeface="Segoe UI"/>
              </a:defRPr>
            </a:pPr>
            <a:r>
              <a:t>TAXONOMÍA EXPERIMENTAL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Evaluación de Vectores sobre el Flujo Catastral (Tríada CIA)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DC2626"/>
                </a:solidFill>
              </a:defRPr>
            </a:pPr>
            <a:r>
              <a:t>Vectores de Inyección Espacial Directa (V1 - V3)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V1. Evasión Lógica (ST_DWithin)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Tautología que anula radio métrico y filtro de sector; exfiltración masiva de 50 lotes restringidos en 7.03 ms.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V2. Canal Lateral Ciego (ST_Intersects)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Inferencia booleana vinculada a división por cero topológica; extracción de hashes administrativos en 42 segundos.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V3. DoS Espacial Algorítmico (ST_Buffer)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Inyección de subconsulta con producto cruzado O(N²); sobrecarga crítica de CPU en motor GEOS.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0E7490"/>
                </a:solidFill>
              </a:defRPr>
            </a:pPr>
            <a:r>
              <a:t>Vectores Convencionales de Control Catastral (V4 - V6)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V4. Fraude Predial (Tampering)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Manipulación de cláusula SET; reducción fiscal del autovalúo a S/ 0.00 y suplantación del titular predial.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V5. Destrucción Cartográfica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Inyección de cláusula WHERE 1=1; purga incondicional de los 487 lotes en tabla tg_lote (pérdida total del visor).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V6. Evasión de Autenticación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</a:defRPr>
            </a:pPr>
            <a:r>
              <a:t>Comentario SQL en interfaz de acceso; escalación ilegítima al rol administrativo superadmin_catastro.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7490"/>
                </a:solidFill>
                <a:latin typeface="Segoe UI"/>
              </a:defRPr>
            </a:pPr>
            <a:r>
              <a:t>DISPONIBILIDAD CRÍTICA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Spatial DoS: Explosión de Complejidad Algorítmica O(N²)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Mecanismo del Ataque</a:t>
            </a:r>
          </a:p>
          <a:p>
            <a:pPr>
              <a:spcAft>
                <a:spcPts val="1400"/>
              </a:spcAft>
              <a:defRPr sz="1050">
                <a:solidFill>
                  <a:srgbClr val="64748B"/>
                </a:solidFill>
              </a:defRPr>
            </a:pPr>
            <a:r>
              <a:t>Aprovecha la densidad topológica nativa de los predios urbanos (hasta 222 vértices por polígono). El payload inyecta un CROSS JOIN que fuerza al motor GEOS a calcular buffers densos sin indexación GiST previa.</a:t>
            </a:r>
          </a:p>
          <a:p>
            <a:pPr>
              <a:spcAft>
                <a:spcPts val="800"/>
              </a:spcAft>
              <a:defRPr sz="1400" b="1">
                <a:solidFill>
                  <a:srgbClr val="DC2626"/>
                </a:solidFill>
              </a:defRPr>
            </a:pPr>
            <a:r>
              <a:t>Consecuencia Operativa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Monopolización absoluta de workers en PostgreSQL. En instancias locales y nubes municipales de recursos reducidos, dos peticiones concurrentes inducen denegación de servicio total.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645920"/>
            <a:ext cx="63093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API VULNERABLE (SQL DINÁMICO)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10.8 ms  →  1,692.1 ms  (Degradación 93.5x)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La latencia explota cuadráticamente al evaluar de 14,400 a 345,600 vértices en pares de polígonos.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4069080"/>
            <a:ext cx="63093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100" b="1">
                <a:solidFill>
                  <a:srgbClr val="16A34A"/>
                </a:solidFill>
              </a:defRPr>
            </a:pPr>
            <a:r>
              <a:t>ARQUITECTURA MITIGADA (PYDANTIC + GEOALCHEMY2)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Latencia Acotada O(1): ~15 ms Constante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El esquema neutraliza la inyección de subconsultas restringiendo los parámetros a escalares estrictos.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7490"/>
                </a:solidFill>
                <a:latin typeface="Segoe UI"/>
              </a:defRPr>
            </a:pPr>
            <a:r>
              <a:t>ARQUITECTURA DEFENSIVA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Pipeline de Defensa en Profundidad de Tres Barreras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BARRERA 1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Pydantic (Capa Web)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Tipado escalar estricto en runtime.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Acotamiento de rangos físicos y coordenadas.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Guardas regex contra payloads (ej. ^\d{4}$).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Retorna HTTP 422 sin tocar el motor de base de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BARRERA 2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Shapely (Memoria)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Validación topológica anticipada.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Detección y descarte de geometrías auto-intersecadas.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AST Spatial Sanitation sobre WKT y GeoJSON.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Aislamiento preventivo ante anomalías topológicas.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BARRERA 3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</a:defRPr>
            </a:pPr>
            <a:r>
              <a:t>GeoAlchemy2 (Persistencia)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Compilación nativa de variables en formato binario (EWKB).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Uso estricto de consultas preparadas (Prepared Statements).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Separación categórica entre datos y código SQL.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• Reutilización de planes de ejecución en PostgreSQL.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7490"/>
                </a:solidFill>
                <a:latin typeface="Segoe UI"/>
              </a:defRPr>
            </a:pPr>
            <a:r>
              <a:t>VALIDACIÓN EXPERIMENTAL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Benchmarking y Sobrecosto en Endpoint de Proximidad (/predios/radio)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79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Métrica Evaluada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API Vulnerable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API Mitigada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Throughput (Rendimiento)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556.21 req/s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484.36 req/s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-12.92%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Latencia Media (Mean)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17.26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19.89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+2.63 ms (+15.24%)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Percentil 50 (p50)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15.37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18.42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+3.05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Percentil 99 (p99)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43.75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38.24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6A34A"/>
                          </a:solidFill>
                          <a:latin typeface="Segoe UI"/>
                        </a:defRPr>
                      </a:pPr>
                      <a:r>
                        <a:t>-12.59% (Mejora)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Tasa de Error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Hallazgos de Rendimiento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Sobrecosto Asumible: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El incremento medio de 2.63 ms resulta marginal frente al valor de la protección.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Ganancia por Planes Compilados: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La reutilización de prepared statements en PostgreSQL mejora la estabilidad en la cola inicial (-12.59% en p99).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Estrés Masivo (100 clientes):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La mitigada escala de forma controlada (~101 ms en p99) por el procesamiento en Python sin registrar fallos de conexión.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7490"/>
                </a:solidFill>
                <a:latin typeface="Segoe UI"/>
              </a:defRPr>
            </a:pPr>
            <a:r>
              <a:t>VALIDACIÓN GLOBAL Y CONCLUSIONES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Eficacia Defensiva Frente a la Tríada CIA y Cierre de la Investigación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6A34A"/>
                </a:solidFill>
              </a:defRPr>
            </a:pPr>
            <a:r>
              <a:t>Eficacia de Mitigación (100% de Neutralización)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Vectores Espaciales (V1 - V3)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100% de neutralización. Se previenen tautologías en ST_DWithin, oráculos booleanos en ST_Intersects y sobrecarga cuadrática O(N²) en ST_Buffer.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Vectores Convencionales (V4 - V6)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100% de protección. Se blinda la integridad fiscal del autovalúo, se anulan purgas cartográficas en tg_lote y se impide la escalación administrativa.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Aislamiento Arquitectónico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Pydantic y Shapely interceptan entradas anómalas en la aplicación, garantizando que ninguna consulta maliciosa alcance el motor PostgreSQL/PostGIS.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Conclusiones Principales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Paradigma de Seguridad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Las funciones espaciales exigen abandonar la sanitización escalar genérica e incorporar parametrización tipada y validación topológica nativa.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Integridad del Catastro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Neutralizar las inyecciones previene alteraciones no autorizadas en autovalúos y planos digitales vinculados a fe pública (ISO 19152 LADM).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• Compromiso Operativo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El sobrecosto de 2.63 ms certifica la viabilidad técnica para geoportales municipales en entornos de producción.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