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lus Jakarta Sans"/>
      <p:regular r:id="rId14"/>
      <p:bold r:id="rId15"/>
      <p:italic r:id="rId16"/>
      <p:boldItalic r:id="rId17"/>
    </p:embeddedFont>
    <p:embeddedFont>
      <p:font typeface="Inter"/>
      <p:regular r:id="rId18"/>
      <p:bold r:id="rId19"/>
      <p:italic r:id="rId20"/>
      <p:boldItalic r:id="rId21"/>
    </p:embeddedFont>
    <p:embeddedFont>
      <p:font typeface="Space Grotesk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358DE24-4240-4B2D-92AC-85EDF0DE8E8E}">
  <a:tblStyle styleId="{E358DE24-4240-4B2D-92AC-85EDF0DE8E8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font" Target="fonts/PlusJakartaSans-regular.fntdata"/><Relationship Id="rId15" Type="http://schemas.openxmlformats.org/officeDocument/2006/relationships/font" Target="fonts/PlusJakartaSans-bold.fntdata"/><Relationship Id="rId16" Type="http://schemas.openxmlformats.org/officeDocument/2006/relationships/font" Target="fonts/PlusJakartaSans-italic.fntdata"/><Relationship Id="rId17" Type="http://schemas.openxmlformats.org/officeDocument/2006/relationships/font" Target="fonts/PlusJakartaSans-boldItalic.fntdata"/><Relationship Id="rId18" Type="http://schemas.openxmlformats.org/officeDocument/2006/relationships/font" Target="fonts/Inter-regular.fntdata"/><Relationship Id="rId19" Type="http://schemas.openxmlformats.org/officeDocument/2006/relationships/font" Target="fonts/Inter-bold.fntdata"/><Relationship Id="rId20" Type="http://schemas.openxmlformats.org/officeDocument/2006/relationships/font" Target="fonts/Inter-italic.fntdata"/><Relationship Id="rId21" Type="http://schemas.openxmlformats.org/officeDocument/2006/relationships/font" Target="fonts/Inter-boldItalic.fntdata"/><Relationship Id="rId22" Type="http://schemas.openxmlformats.org/officeDocument/2006/relationships/font" Target="fonts/SpaceGrotesk-regular.fntdata"/><Relationship Id="rId23" Type="http://schemas.openxmlformats.org/officeDocument/2006/relationships/font" Target="fonts/SpaceGrotesk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bad4d5312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fbad4d5312_1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bad4d5312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fbad4d5312_1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bad4d5312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fbad4d5312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bad4d5312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bad4d5312_1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bad4d5312_1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bad4d5312_1_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RAlexander777/Playground-SQLi-PostGIS.git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90D16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838200" y="1524047"/>
            <a:ext cx="9901200" cy="188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de Vulnerabilidades de Inyección SQL Espacial en Sistemas de Información Catastral basados en PostGIS</a:t>
            </a:r>
            <a:endParaRPr sz="1700"/>
          </a:p>
        </p:txBody>
      </p:sp>
      <p:sp>
        <p:nvSpPr>
          <p:cNvPr id="85" name="Google Shape;85;p13"/>
          <p:cNvSpPr txBox="1"/>
          <p:nvPr/>
        </p:nvSpPr>
        <p:spPr>
          <a:xfrm>
            <a:off x="838200" y="3615527"/>
            <a:ext cx="7905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de riesgos, pruebas y mitigación </a:t>
            </a:r>
            <a:endParaRPr sz="1600"/>
          </a:p>
        </p:txBody>
      </p:sp>
      <p:sp>
        <p:nvSpPr>
          <p:cNvPr id="86" name="Google Shape;86;p13"/>
          <p:cNvSpPr txBox="1"/>
          <p:nvPr/>
        </p:nvSpPr>
        <p:spPr>
          <a:xfrm>
            <a:off x="9084275" y="6452175"/>
            <a:ext cx="2856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Rodrigo Alexander Becerra Lucano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INTRODUCCIÓN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685800" y="1417700"/>
            <a:ext cx="9170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Los sistemas de información catastral modernos exponen servicios web sobre arquitecturas cliente-servidor, sin embargo, esto hace que se expongan a vectores de ataque SQLi.</a:t>
            </a:r>
            <a:endParaRPr sz="1600"/>
          </a:p>
        </p:txBody>
      </p:sp>
      <p:sp>
        <p:nvSpPr>
          <p:cNvPr id="93" name="Google Shape;93;p14"/>
          <p:cNvSpPr txBox="1"/>
          <p:nvPr/>
        </p:nvSpPr>
        <p:spPr>
          <a:xfrm>
            <a:off x="685800" y="2178863"/>
            <a:ext cx="9170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PostGIS presenta operadores geométricos (ST_DWithin, ST_Intersectes, ST_Buffer) , cuyo mal manejo puede permitir el pase a amenazas o filtración de datos, además de desencadenar un ataque DoS.</a:t>
            </a:r>
            <a:endParaRPr sz="1600"/>
          </a:p>
        </p:txBody>
      </p:sp>
      <p:sp>
        <p:nvSpPr>
          <p:cNvPr id="94" name="Google Shape;94;p14"/>
          <p:cNvSpPr txBox="1"/>
          <p:nvPr/>
        </p:nvSpPr>
        <p:spPr>
          <a:xfrm>
            <a:off x="685800" y="3178538"/>
            <a:ext cx="91704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 este artículo se presenta la evaluación de 6 vectores de ataque orientados a la triada CIA (Confidencialidad, Integridad y Disponibilidad), así como las barreras de mitigación de dichos ataques.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DATASET DE PRUEBA Y ENTORNO DE EVALUACIÓN</a:t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685800" y="1608442"/>
            <a:ext cx="5248200" cy="1605600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6105525" y="1608442"/>
            <a:ext cx="5248200" cy="1605600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685800" y="3385450"/>
            <a:ext cx="5248200" cy="1605600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6105525" y="3385450"/>
            <a:ext cx="5248200" cy="1605600"/>
          </a:xfrm>
          <a:prstGeom prst="roundRect">
            <a:avLst>
              <a:gd fmla="val 593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23925" y="1808467"/>
            <a:ext cx="596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ESTÁNDAR INTERNACIONAL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923925" y="2037067"/>
            <a:ext cx="6263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487 Lotes Urbanos (ISO 19152 / LADM)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23925" y="2351392"/>
            <a:ext cx="4867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Cartografía estructurada bajo la clase LA_SpatialUnit y georreferenciada en el sistema de coordenadas oficial EPSG:32719.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43650" y="1808467"/>
            <a:ext cx="577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COMPLEJIDAD VECTORIAL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43650" y="2037067"/>
            <a:ext cx="5772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Geometrías de 4 a 222 Vértices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43650" y="2351392"/>
            <a:ext cx="4867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Promedio de 9.0 vértices por polígono, permitiendo evaluar el sobrecoste algorítmico y la dispersión topológica en parcelas reales.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923925" y="3585475"/>
            <a:ext cx="5964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ESQUEMA RELACIONAL Y ÉTICA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23925" y="3814075"/>
            <a:ext cx="62634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3 Entidades sin Información PII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23925" y="4128400"/>
            <a:ext cx="48672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Tablas tg_lote, catastro_titulares (LA_Party/autovalúo) y catastro_usuarios; atributos fiscales sintéticos reproducibles.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6343650" y="3585475"/>
            <a:ext cx="577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DE PRUEBAS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6343650" y="3814075"/>
            <a:ext cx="5772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Microservicios Aislados en Docker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6343650" y="4128400"/>
            <a:ext cx="48672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PostgreSQL 15 con PostGIS 3.3 y API en Python 3.11 (FastAPI/Uvicorn) ejecutados sobre procesador Intel Core Ultra 5 con 32 GB RAM DDR5.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2036250" y="5362475"/>
            <a:ext cx="8119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Playground: </a:t>
            </a:r>
            <a:r>
              <a:rPr b="1" lang="en-US" sz="1650" u="sng">
                <a:solidFill>
                  <a:schemeClr val="hlink"/>
                </a:solidFill>
                <a:latin typeface="Space Grotesk"/>
                <a:ea typeface="Space Grotesk"/>
                <a:cs typeface="Space Grotesk"/>
                <a:sym typeface="Space Grotesk"/>
                <a:hlinkClick r:id="rId3"/>
              </a:rPr>
              <a:t>https://github.com/RAlexander777/Playground-SQLi-PostGIS.git</a:t>
            </a:r>
            <a:endParaRPr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DE LOS 6 VECTORES DE ATAQUE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4394150" y="1600200"/>
            <a:ext cx="3403500" cy="3749039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8026300" y="1600200"/>
            <a:ext cx="3403500" cy="347880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4632275" y="1876425"/>
            <a:ext cx="29274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8264425" y="1876425"/>
            <a:ext cx="29274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4632275" y="2447925"/>
            <a:ext cx="2927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8264425" y="2447925"/>
            <a:ext cx="2927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8264425" y="3379291"/>
            <a:ext cx="29274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8264425" y="4234457"/>
            <a:ext cx="2927400" cy="7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8264425" y="3379291"/>
            <a:ext cx="2927400" cy="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8264425" y="4234457"/>
            <a:ext cx="2927400" cy="9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4632275" y="187642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DIMENSIÓN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4632275" y="2085975"/>
            <a:ext cx="38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Disponibilidad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264425" y="187642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DIMENSIÓN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8264425" y="2085975"/>
            <a:ext cx="38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Integridad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4632275" y="2609850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V3. Denegación de Servicio (DoS)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4632275" y="2788920"/>
            <a:ext cx="30225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Inyección de producto cartesiano espacial con ST_Buffer y alta densidad de vértices.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8264425" y="2609850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V4. Tampering de Ficha Predial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264425" y="2838450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Modificación de datos.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8264425" y="3465016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V5. Borrado Cartográfico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264425" y="3693616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Eliminación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geometrías</a:t>
            </a: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del sector.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8264425" y="4320182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V6. Bypass de Autenticación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264425" y="4548782"/>
            <a:ext cx="3022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Acceso al sistema con rol administrativo. 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62000" y="1600200"/>
            <a:ext cx="3403500" cy="3478800"/>
          </a:xfrm>
          <a:prstGeom prst="roundRect">
            <a:avLst>
              <a:gd fmla="val 335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846525" y="1920925"/>
            <a:ext cx="29274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46525" y="2492425"/>
            <a:ext cx="29274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1000125" y="1920925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DIMENSIÓN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000125" y="2138225"/>
            <a:ext cx="3842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Confidencialidad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000125" y="2653650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1" lang="en-US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1" lang="en-US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Evasión Lógica Espacial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000125" y="2891300"/>
            <a:ext cx="30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Tautología en ST_DWithin, filtrado de geometrías.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000125" y="3583950"/>
            <a:ext cx="365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</a:t>
            </a:r>
            <a:r>
              <a:rPr b="1" lang="en-US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b="1" lang="en-US" sz="12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Canal Lateral por Error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00125" y="3821600"/>
            <a:ext cx="30225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Excepciones condicionales en ST_Intersects.</a:t>
            </a:r>
            <a:endParaRPr/>
          </a:p>
        </p:txBody>
      </p:sp>
      <p:pic>
        <p:nvPicPr>
          <p:cNvPr id="153" name="Picture 152" descr="fig3_spatial_dos_complex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291840"/>
            <a:ext cx="3154680" cy="18227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BARRERAS DE MITIGACIÓN DE ATAQUES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685800" y="1280160"/>
            <a:ext cx="10668000" cy="685800"/>
          </a:xfrm>
          <a:prstGeom prst="roundRect">
            <a:avLst>
              <a:gd fmla="val 120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85800" y="2057400"/>
            <a:ext cx="10668000" cy="685800"/>
          </a:xfrm>
          <a:prstGeom prst="roundRect">
            <a:avLst>
              <a:gd fmla="val 9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685800" y="2834640"/>
            <a:ext cx="10668000" cy="685800"/>
          </a:xfrm>
          <a:prstGeom prst="roundRect">
            <a:avLst>
              <a:gd fmla="val 9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962100" y="1371600"/>
            <a:ext cx="329184" cy="329184"/>
          </a:xfrm>
          <a:prstGeom prst="roundRect">
            <a:avLst>
              <a:gd fmla="val 18181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962025" y="2148840"/>
            <a:ext cx="329184" cy="329184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962100" y="2926080"/>
            <a:ext cx="329184" cy="329184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819150" y="1399032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19150" y="2176272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19150" y="2953512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647825" y="1325880"/>
            <a:ext cx="1046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Barrera 1: Validación Estricta con Pydantic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1647825" y="1572768"/>
            <a:ext cx="104679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Tipado numérico estricto, límites físicos en coordenadas y expresiones regulares en parámetros alfanuméricos.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1647825" y="2103120"/>
            <a:ext cx="1046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Barrera 2: Filtro Topológico en Memoria con Shapely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1647825" y="2350008"/>
            <a:ext cx="9525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Inspección geométrica de cargas WKT/GeoJSON antes de consultar la BD; rechazo de auto-intersecciones o geometrías corruptas con HTTP 422.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1647825" y="2880360"/>
            <a:ext cx="10467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Barrera 3: Parametrización en ORM con GeoAlchemy2 y SQLAlchemy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1647825" y="3127248"/>
            <a:ext cx="95250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pPr>
            <a:r>
              <a:rPr b="0" i="0" lang="en-US" sz="12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Compilación tipada en el árbol sintáctico (AST) con variables binarias EWKB y sentencias preparadas; elimina la concatenación textual.</a:t>
            </a:r>
            <a:endParaRPr/>
          </a:p>
        </p:txBody>
      </p:sp>
      <p:pic>
        <p:nvPicPr>
          <p:cNvPr id="173" name="Picture 172" descr="fig1_defense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3657600"/>
            <a:ext cx="731520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 Y RENDIMIENTO</a:t>
            </a: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762000" y="2331720"/>
            <a:ext cx="10668000" cy="1234440"/>
          </a:xfrm>
          <a:prstGeom prst="roundRect">
            <a:avLst>
              <a:gd fmla="val 47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62000" y="1234440"/>
            <a:ext cx="3403500" cy="100584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4394150" y="1234440"/>
            <a:ext cx="3403500" cy="100584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8026300" y="1234440"/>
            <a:ext cx="3403500" cy="1005840"/>
          </a:xfrm>
          <a:prstGeom prst="roundRect">
            <a:avLst>
              <a:gd fmla="val 757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2" name="Google Shape;182;p18"/>
          <p:cNvGraphicFramePr/>
          <p:nvPr/>
        </p:nvGraphicFramePr>
        <p:xfrm>
          <a:off x="962025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{E358DE24-4240-4B2D-92AC-85EDF0DE8E8E}</a:tableStyleId>
              </a:tblPr>
              <a:tblGrid>
                <a:gridCol w="3366350"/>
                <a:gridCol w="2375450"/>
                <a:gridCol w="3028500"/>
                <a:gridCol w="1497650"/>
              </a:tblGrid>
              <a:tr h="4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Enfoque Evaluado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Bloqueo Espacial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Throughput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050" u="none" cap="none" strike="noStrike">
                          <a:solidFill>
                            <a:srgbClr val="64748B"/>
                          </a:solidFill>
                          <a:latin typeface="Space Grotesk"/>
                          <a:ea typeface="Space Grotesk"/>
                          <a:cs typeface="Space Grotesk"/>
                          <a:sym typeface="Space Grotesk"/>
                        </a:rPr>
                        <a:t>Latencia Media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200" u="none" cap="none" strike="noStrike">
                          <a:solidFill>
                            <a:srgbClr val="0F172A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API Vulnerable (SQL Dinámico)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200" u="none" cap="none" strike="noStrike">
                          <a:solidFill>
                            <a:srgbClr val="EF444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0% (Exposición total)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556.21 req/s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0" i="0" lang="en-US" sz="12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17.26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200" u="none" cap="none" strike="noStrik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Pipeline Propuesto (GeoAlchemy2)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200" u="none" cap="none" strike="noStrike">
                          <a:solidFill>
                            <a:srgbClr val="0596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Mitigación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200" u="none" cap="none" strike="noStrik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484.36 req/s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100"/>
                      </a:pPr>
                      <a:r>
                        <a:rPr b="1" i="0" lang="en-US" sz="1200" u="none" cap="none" strike="noStrike">
                          <a:solidFill>
                            <a:srgbClr val="065F46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19.89 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183" name="Google Shape;183;p18"/>
          <p:cNvSpPr txBox="1"/>
          <p:nvPr/>
        </p:nvSpPr>
        <p:spPr>
          <a:xfrm>
            <a:off x="1000125" y="1325880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EFECTIVIDAD DE SEGURIDAD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1000125" y="1536192"/>
            <a:ext cx="3659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59669"/>
                </a:solidFill>
                <a:latin typeface="Space Grotesk"/>
                <a:ea typeface="Space Grotesk"/>
                <a:cs typeface="Space Grotesk"/>
                <a:sym typeface="Space Grotesk"/>
              </a:rPr>
              <a:t>100%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000125" y="1965960"/>
            <a:ext cx="3659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000"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Bloqueo de los 6 vectores evaluados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4632275" y="1325880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SOBRECOSTO OPERATIVO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4632275" y="1536192"/>
            <a:ext cx="3659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284C7"/>
                </a:solidFill>
                <a:latin typeface="Space Grotesk"/>
                <a:ea typeface="Space Grotesk"/>
                <a:cs typeface="Space Grotesk"/>
                <a:sym typeface="Space Grotesk"/>
              </a:rPr>
              <a:t>+2.63 ms</a:t>
            </a:r>
            <a:endParaRPr/>
          </a:p>
        </p:txBody>
      </p:sp>
      <p:sp>
        <p:nvSpPr>
          <p:cNvPr id="188" name="Google Shape;188;p18"/>
          <p:cNvSpPr txBox="1"/>
          <p:nvPr/>
        </p:nvSpPr>
        <p:spPr>
          <a:xfrm>
            <a:off x="4632275" y="1965960"/>
            <a:ext cx="3659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000"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19.89 ms mitigado vs. 17.26 ms vulnerable</a:t>
            </a:r>
            <a:endParaRPr/>
          </a:p>
        </p:txBody>
      </p:sp>
      <p:sp>
        <p:nvSpPr>
          <p:cNvPr id="189" name="Google Shape;189;p18"/>
          <p:cNvSpPr txBox="1"/>
          <p:nvPr/>
        </p:nvSpPr>
        <p:spPr>
          <a:xfrm>
            <a:off x="8264425" y="1325880"/>
            <a:ext cx="3659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ESTABILIDAD DE COLA (P99)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8264425" y="1536192"/>
            <a:ext cx="3659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F172A"/>
                </a:solidFill>
                <a:latin typeface="Space Grotesk"/>
                <a:ea typeface="Space Grotesk"/>
                <a:cs typeface="Space Grotesk"/>
                <a:sym typeface="Space Grotesk"/>
              </a:rPr>
              <a:t>-12.59%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8264425" y="1965960"/>
            <a:ext cx="3659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  <a:defRPr sz="1000"/>
            </a:pPr>
            <a:r>
              <a:rPr b="0" i="0" lang="en-US" sz="11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Reducción gracias a planes preparados</a:t>
            </a:r>
            <a:endParaRPr/>
          </a:p>
        </p:txBody>
      </p:sp>
      <p:pic>
        <p:nvPicPr>
          <p:cNvPr id="192" name="Picture 191" descr="fig2_concurrency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304" y="3703320"/>
            <a:ext cx="7315200" cy="281353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/>
        </p:nvSpPr>
        <p:spPr>
          <a:xfrm>
            <a:off x="685800" y="742950"/>
            <a:ext cx="115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DEL ESTUDIO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685800" y="1461112"/>
            <a:ext cx="10668000" cy="950700"/>
          </a:xfrm>
          <a:prstGeom prst="roundRect">
            <a:avLst>
              <a:gd fmla="val 1202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85800" y="2583125"/>
            <a:ext cx="10668000" cy="950700"/>
          </a:xfrm>
          <a:prstGeom prst="roundRect">
            <a:avLst>
              <a:gd fmla="val 9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685800" y="3784077"/>
            <a:ext cx="10668000" cy="950700"/>
          </a:xfrm>
          <a:prstGeom prst="roundRect">
            <a:avLst>
              <a:gd fmla="val 97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962100" y="1638133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962025" y="2856592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05966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962100" y="4059723"/>
            <a:ext cx="419100" cy="419100"/>
          </a:xfrm>
          <a:prstGeom prst="roundRect">
            <a:avLst>
              <a:gd fmla="val 18181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 txBox="1"/>
          <p:nvPr/>
        </p:nvSpPr>
        <p:spPr>
          <a:xfrm>
            <a:off x="819150" y="1726770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</a:t>
            </a:r>
            <a:endParaRPr/>
          </a:p>
        </p:txBody>
      </p:sp>
      <p:sp>
        <p:nvSpPr>
          <p:cNvPr id="204" name="Google Shape;204;p19"/>
          <p:cNvSpPr txBox="1"/>
          <p:nvPr/>
        </p:nvSpPr>
        <p:spPr>
          <a:xfrm>
            <a:off x="819150" y="2962192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</a:t>
            </a:r>
            <a:endParaRPr/>
          </a:p>
        </p:txBody>
      </p:sp>
      <p:sp>
        <p:nvSpPr>
          <p:cNvPr id="205" name="Google Shape;205;p19"/>
          <p:cNvSpPr txBox="1"/>
          <p:nvPr/>
        </p:nvSpPr>
        <p:spPr>
          <a:xfrm>
            <a:off x="819150" y="4172973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1524150" y="1664337"/>
            <a:ext cx="104679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Los operadores geométricos de PostGIS requieren el mismo rigor de parametrización que las consultas relacionales clásicas; su concatenación textual compromete la fe pública catastral y el cálculo tributario.</a:t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7" name="Google Shape;207;p19"/>
          <p:cNvSpPr txBox="1"/>
          <p:nvPr/>
        </p:nvSpPr>
        <p:spPr>
          <a:xfrm>
            <a:off x="1524150" y="2798902"/>
            <a:ext cx="9525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validación sintáctica escalar tradicional resulta insuficiente ante predicados topológicos; la inspección en memoria con Shapely y Pydantic previene sobrecargas algorítmicas O(N²) antes de consultar la base de datos.</a:t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1524150" y="3999783"/>
            <a:ext cx="9525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La compilación tipada en ORM (GeoAlchemy2/SQLAlchemy) neutraliza el 100% de los vectores con un sobrecosto medio marginal de apenas 2.63 ms, mejorando la latencia de cola p99 en un 12.59% gracias a sentencias preparadas.</a:t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75">
              <a:solidFill>
                <a:srgbClr val="475569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